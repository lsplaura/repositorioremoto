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462272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7223760" y="0"/>
            <a:ext cx="411480" cy="6858000"/>
          </a:xfrm>
          <a:prstGeom prst="triangle">
            <a:avLst/>
          </a:prstGeom>
          <a:solidFill>
            <a:srgbClr val="1F5F9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545"/>
                </a:solidFill>
              </a:rPr>
              <a:t>RepositorioRemoto.Back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6420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5F99"/>
                </a:solidFill>
              </a:rPr>
              <a:t>Práctica 6 · Servicio con almacenamiento local y remoto en .NET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5303520" cy="0"/>
          </a:xfrm>
          <a:prstGeom prst="line">
            <a:avLst/>
          </a:prstGeom>
          <a:noFill/>
          <a:ln w="25400">
            <a:solidFill>
              <a:srgbClr val="2F78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31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Lucía Fuertes Cruz · Laura Santamaria Parra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7004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Entorno Servidor · 2º DAW · Curso 2026-2027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397764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API REST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3886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397764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EF Core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3886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397764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Caché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3886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397764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Docker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06440" y="38862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3977640"/>
            <a:ext cx="859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Tests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667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defensa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61848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3FA"/>
                </a:solidFill>
              </a:rPr>
              <a:t>Explicar cómo se conectan API remota, base local, caché, validación, notificaciones, sincronización y pruebas sin mezclar responsabilidades.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458200" y="3794760"/>
            <a:ext cx="1508760" cy="621792"/>
          </a:xfrm>
          <a:prstGeom prst="roundRect">
            <a:avLst>
              <a:gd name="adj" fmla="val 17647"/>
            </a:avLst>
          </a:prstGeom>
          <a:solidFill>
            <a:srgbClr val="2F78B7"/>
          </a:solidFill>
          <a:ln w="12700">
            <a:solidFill>
              <a:srgbClr val="2F78B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9776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async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12680" y="379476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244E78"/>
          </a:solidFill>
          <a:ln w="12700">
            <a:solidFill>
              <a:srgbClr val="244E7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0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Result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49640" y="4736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7F6"/>
                </a:solidFill>
              </a:rPr>
              <a:t>simple · defendible · probado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Qué hemos construido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Un servicio de usuarios con tres piezas principales y una salida de exportación.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8B7"/>
                </a:solidFill>
              </a:rPr>
              <a:t>FLUJO PRINCIPAL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008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API remota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JSONPlaceholder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2395728"/>
            <a:ext cx="502920" cy="502920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187452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5008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UserService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casos de uso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03720" y="2395728"/>
            <a:ext cx="502920" cy="502920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205740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50088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BD local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SQLite/PostgreSQL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0" y="370332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3A6EA5"/>
          </a:solidFill>
          <a:ln w="12700">
            <a:solidFill>
              <a:srgbClr val="3A6E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9639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Caché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Memory/Redis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10378440" y="3858768"/>
            <a:ext cx="411480" cy="411480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46177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95560" y="4901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Exportar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users.json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977640"/>
            <a:ext cx="612648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</a:rPr>
              <a:t>Lectura por ID: caché → BD → API.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Escritura: API → BD → notificación.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GetAll no persiste automáticamente toda la lista al consultar API.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</a:rPr>
              <a:t>La exportación a JSON se genera bajo demanda.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Alcance funcional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>
                <a:latin typeface="Aptos"/>
              </a:rPr>
              <a:t>Casos de uso principales centrados en el usuario.</a:t>
            </a:r>
          </a:p>
        </p:txBody>
      </p:sp>
      <p:sp>
        <p:nvSpPr>
          <p:cNvPr id="6" name="Shape 3"/>
          <p:cNvSpPr/>
          <p:nvPr/>
        </p:nvSpPr>
        <p:spPr>
          <a:xfrm>
            <a:off x="7452360" y="1554480"/>
            <a:ext cx="4023360" cy="4526280"/>
          </a:xfrm>
          <a:prstGeom prst="roundRect">
            <a:avLst>
              <a:gd name="adj" fmla="val 4091"/>
            </a:avLst>
          </a:prstGeom>
          <a:solidFill>
            <a:srgbClr val="EAF3FA"/>
          </a:solidFill>
          <a:ln w="12700">
            <a:solidFill>
              <a:srgbClr val="BCD4E7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266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Qué se puede enseñar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0" y="2331720"/>
            <a:ext cx="3246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sz="1600">
                <a:latin typeface="Aptos"/>
              </a:rPr>
              <a:t>Consultar todos los usuarios.</a:t>
            </a:r>
          </a:p>
          <a:p>
            <a:pPr>
              <a:spcAft>
                <a:spcPts val="0"/>
              </a:spcAft>
            </a:pPr>
            <a:r>
              <a:rPr sz="1600">
                <a:latin typeface="Aptos"/>
              </a:rPr>
              <a:t>Buscar usuario por ID.</a:t>
            </a:r>
          </a:p>
          <a:p>
            <a:pPr>
              <a:spcAft>
                <a:spcPts val="0"/>
              </a:spcAft>
            </a:pPr>
            <a:r>
              <a:rPr sz="1600">
                <a:latin typeface="Aptos"/>
              </a:rPr>
              <a:t>Crear, actualizar y eliminar.</a:t>
            </a:r>
          </a:p>
          <a:p>
            <a:pPr>
              <a:spcAft>
                <a:spcPts val="0"/>
              </a:spcAft>
            </a:pPr>
            <a:r>
              <a:rPr sz="1600">
                <a:latin typeface="Aptos"/>
              </a:rPr>
              <a:t>Exportar usuarios a JSON.</a:t>
            </a:r>
          </a:p>
        </p:txBody>
      </p:sp>
      <p:sp>
        <p:nvSpPr>
          <p:cNvPr id="9" name="Shape 6"/>
          <p:cNvSpPr/>
          <p:nvPr/>
        </p:nvSpPr>
        <p:spPr>
          <a:xfrm>
            <a:off x="7726680" y="5257800"/>
            <a:ext cx="34290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BDD4E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845552" y="5349240"/>
            <a:ext cx="3191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Casos de uso centrados en el usuario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  <p:txBody>
          <a:bodyPr/>
          <a:p/>
        </p:txBody>
      </p:sp>
      <p:pic>
        <p:nvPicPr>
          <p:cNvPr id="13" name="Picture 12" descr="use_case_usuario_sin_temporiza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572768"/>
            <a:ext cx="5440680" cy="51560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Lectura: GetAllAsync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La consulta general devuelve datos locales si existen; si la BD está vacía, consulta la API.</a:t>
            </a:r>
            <a:endParaRPr lang="en-US" sz="1150" dirty="0"/>
          </a:p>
        </p:txBody>
      </p:sp>
      <p:pic>
        <p:nvPicPr>
          <p:cNvPr id="5" name="Image 0" descr="/mnt/data/mermaid_updated/crop_12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773" y="1627632"/>
            <a:ext cx="7478535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372600" y="1600200"/>
            <a:ext cx="2148840" cy="3840480"/>
          </a:xfrm>
          <a:prstGeom prst="roundRect">
            <a:avLst>
              <a:gd name="adj" fmla="val 7660"/>
            </a:avLst>
          </a:prstGeom>
          <a:solidFill>
            <a:srgbClr val="0B25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82912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Cambio importante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19488" y="248716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3FA"/>
                </a:solidFill>
              </a:rPr>
              <a:t>GetAll no guarda toda la lista automáticamente cuando lee desde la API.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19488" y="400507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7F6"/>
                </a:solidFill>
              </a:rPr>
              <a:t>Así no se fuerza una persistencia masiva solo por consultar.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Lectura por ID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Aquí sí se aprovecha la caché para acelerar consultas repetidas.</a:t>
            </a:r>
            <a:endParaRPr lang="en-US" sz="1150" dirty="0"/>
          </a:p>
        </p:txBody>
      </p:sp>
      <p:pic>
        <p:nvPicPr>
          <p:cNvPr id="5" name="Image 0" descr="/mnt/data/mermaid_cropped/diagram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028" y="1627632"/>
            <a:ext cx="4222025" cy="43159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6144768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6236208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1 · Caché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14600" y="614476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33472" y="6236208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2 · Base de datos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6144768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28032" y="6236208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3 · API REST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629400" y="6144768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DFF2EB"/>
          </a:solidFill>
          <a:ln w="10160">
            <a:solidFill>
              <a:srgbClr val="A9D4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8272" y="6236208"/>
            <a:ext cx="2871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7D6B"/>
                </a:solidFill>
              </a:rPr>
              <a:t>Se cachea si viene de BD o API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Crear usuario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Validar → API → BD local → notificación.</a:t>
            </a:r>
            <a:endParaRPr lang="en-US" sz="1150" dirty="0"/>
          </a:p>
        </p:txBody>
      </p:sp>
      <p:pic>
        <p:nvPicPr>
          <p:cNvPr id="5" name="Image 0" descr="/mnt/data/mermaid_cropped/diagram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212" y="1627632"/>
            <a:ext cx="6151017" cy="4251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68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Decisión de diseño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052560" y="2148840"/>
            <a:ext cx="242316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11827"/>
                </a:solidFill>
              </a:rPr>
              <a:t>Se valida antes de llamar a la API.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Se usa UserMapper para pasar de DTO a modelo.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No se mete en caché al crear.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Se emite TypeNotification.Create.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006840" y="4709160"/>
            <a:ext cx="2377440" cy="0"/>
          </a:xfrm>
          <a:prstGeom prst="line">
            <a:avLst/>
          </a:prstGeom>
          <a:noFill/>
          <a:ln w="25400">
            <a:solidFill>
              <a:srgbClr val="2F78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52560" y="49834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5F99"/>
                </a:solidFill>
              </a:rPr>
              <a:t>Crear no significa que se vaya a consultar justo después.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Actualizar y eliminar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Mismo enfoque: comprobar, operar y avisar.</a:t>
            </a:r>
            <a:endParaRPr lang="en-US" sz="1150" dirty="0"/>
          </a:p>
        </p:txBody>
      </p:sp>
      <p:pic>
        <p:nvPicPr>
          <p:cNvPr id="5" name="Image 0" descr="/mnt/data/mermaid_cropped/diagram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43091"/>
            <a:ext cx="5440680" cy="3429019"/>
          </a:xfrm>
          <a:prstGeom prst="rect">
            <a:avLst/>
          </a:prstGeom>
        </p:spPr>
      </p:pic>
      <p:pic>
        <p:nvPicPr>
          <p:cNvPr id="6" name="Image 1" descr="/mnt/data/mermaid_cropped/diagram_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13532"/>
            <a:ext cx="5440680" cy="308813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14400" y="6108192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33272" y="6199632"/>
            <a:ext cx="3922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UpdateAsync: valida ID + datos + existencia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492240" y="6108192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F2F7FC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11112" y="6199632"/>
            <a:ext cx="4197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DeleteAsync: elimina también la clave de caché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Sincronización cada 60 segundos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BackgroundService limpia caché y recarga la copia local desde la API.</a:t>
            </a:r>
            <a:endParaRPr lang="en-US" sz="1150" dirty="0"/>
          </a:p>
        </p:txBody>
      </p:sp>
      <p:pic>
        <p:nvPicPr>
          <p:cNvPr id="5" name="Image 0" descr="/mnt/data/mermaid_cropped/diagram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3734" y="1627632"/>
            <a:ext cx="7096891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97280" y="605332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16152" y="614476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PeriodicTimer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71800" y="6053328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90672" y="6144768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RemoveAllAsync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166360" y="6053328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85232" y="6144768"/>
            <a:ext cx="1636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DeleteAllAsync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6053328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34072" y="614476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GET /users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89720" y="6053328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08592" y="6144768"/>
            <a:ext cx="1865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CreateAsync por usuario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Dos formas de ejecutar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La misma lógica cambia de infraestructura según el entorno.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120640" cy="4434840"/>
          </a:xfrm>
          <a:prstGeom prst="roundRect">
            <a:avLst>
              <a:gd name="adj" fmla="val 4124"/>
            </a:avLst>
          </a:prstGeom>
          <a:solidFill>
            <a:srgbClr val="EAF3FA"/>
          </a:solidFill>
          <a:ln w="12700">
            <a:solidFill>
              <a:srgbClr val="BCD4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</a:rPr>
              <a:t>Development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246888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2560320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SQLite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51760" y="24688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2560320"/>
            <a:ext cx="16824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MemoryCache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compose up -d --build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ENTRYPOINT ... Development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5120640" cy="4434840"/>
          </a:xfrm>
          <a:prstGeom prst="roundRect">
            <a:avLst>
              <a:gd name="adj" fmla="val 4124"/>
            </a:avLst>
          </a:prstGeom>
          <a:solidFill>
            <a:srgbClr val="0B254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720840" y="246888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560320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PostgreSQL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41080" y="246888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AF3FA"/>
          </a:solidFill>
          <a:ln w="10160">
            <a:solidFill>
              <a:srgbClr val="BDD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560320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2545"/>
                </a:solidFill>
              </a:rPr>
              <a:t>Redis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720840" y="333756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3F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compose --profile prod up -d --build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20840" y="3794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7F6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ENTRYPOINT ... Production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619963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appsettings.development.json y appsettings.production.json cambian proveedores sin tocar UserService.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Inyección de dependencias con Scrutor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Una parte automática por interfaces marcadoras y otra manual para infraestructura.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8B7"/>
                </a:solidFill>
              </a:rPr>
              <a:t>AUTOMÁTICO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2F78B7"/>
          </a:solidFill>
          <a:ln w="12700">
            <a:solidFill>
              <a:srgbClr val="2F78B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180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ITransientService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validadores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5468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5067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IScopedService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servicios y repos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34340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6954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ISingletonService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notificaciones/background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78B7"/>
                </a:solidFill>
              </a:rPr>
              <a:t>MANUAL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3180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AddDatabase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SQLite/PostgreSQL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15468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3A6EA5"/>
          </a:solidFill>
          <a:ln w="12700">
            <a:solidFill>
              <a:srgbClr val="3A6EA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5067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AddCache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Memory/Redis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434340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6954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AddExternalApis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063240" cy="3566160"/>
          </a:xfrm>
          <a:prstGeom prst="roundRect">
            <a:avLst>
              <a:gd name="adj" fmla="val 5373"/>
            </a:avLst>
          </a:prstGeom>
          <a:solidFill>
            <a:srgbClr val="EAF3FA"/>
          </a:solidFill>
          <a:ln w="12700">
            <a:solidFill>
              <a:srgbClr val="BCD4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</a:rPr>
              <a:t>Resultado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0" y="2697480"/>
            <a:ext cx="237744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50" dirty="0">
                <a:solidFill>
                  <a:srgbClr val="111827"/>
                </a:solidFill>
              </a:rPr>
              <a:t>Menos registro repetido.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Ciclos de vida visibles.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Infraestructura aislada.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Pruebas más fáciles con mocks.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Validación, errores y exportación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El flujo evita usar excepciones como resultado normal de negocio.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2F78B7"/>
          </a:solidFill>
          <a:ln w="12700">
            <a:solidFill>
              <a:srgbClr val="2F78B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808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Validate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71800" y="2121408"/>
            <a:ext cx="502920" cy="384048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737360"/>
            <a:ext cx="2286000" cy="1143000"/>
          </a:xfrm>
          <a:prstGeom prst="roundRect">
            <a:avLst>
              <a:gd name="adj" fmla="val 9600"/>
            </a:avLst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1808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Result&lt;T,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DomainError&gt;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08192" y="2121408"/>
            <a:ext cx="502920" cy="384048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192024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1808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Serilog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06840" y="2121408"/>
            <a:ext cx="502920" cy="384048"/>
          </a:xfrm>
          <a:prstGeom prst="chevron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38360" y="173736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21808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Exportar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10241280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20" dirty="0">
                <a:solidFill>
                  <a:srgbClr val="111827"/>
                </a:solidFill>
              </a:rPr>
              <a:t>RequestValidator comprueba campos obligatorios y regex.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UsersError, ServiceError, RepositoryError y StorageError separan fallos.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Serilog diferencia Debug, Information, Warning y Error.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UserStorage solo genera users.json bajo demanda; no es persistencia principal.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78B7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545"/>
                </a:solidFill>
              </a:rPr>
              <a:t>Pruebas y cobertura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76656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Tests unitarios, integración con contenedores y revisión exacta de líneas.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554480" cy="731520"/>
          </a:xfrm>
          <a:prstGeom prst="roundRect">
            <a:avLst>
              <a:gd name="adj" fmla="val 15000"/>
            </a:avLst>
          </a:prstGeom>
          <a:solidFill>
            <a:srgbClr val="2F78B7"/>
          </a:solidFill>
          <a:ln w="12700">
            <a:solidFill>
              <a:srgbClr val="2F78B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12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NUnit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1691640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1F5F99"/>
          </a:solidFill>
          <a:ln w="12700">
            <a:solidFill>
              <a:srgbClr val="1F5F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21122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Moq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 Verify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37760" y="16916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11226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Fluent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Assertions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60920" y="1874520"/>
            <a:ext cx="2148840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21122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Testcontainers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829800" y="169164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Coverage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10561320" cy="1325880"/>
          </a:xfrm>
          <a:prstGeom prst="roundRect">
            <a:avLst>
              <a:gd name="adj" fmla="val 12414"/>
            </a:avLst>
          </a:prstGeom>
          <a:solidFill>
            <a:srgbClr val="EAF3FA"/>
          </a:solidFill>
          <a:ln w="12700">
            <a:solidFill>
              <a:srgbClr val="BCD4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886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</a:rPr>
              <a:t>Qué se comprueba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DTOs · modelos · mappers · DbContext · repositorios · caché Memory/Redis · BackgroundService · notificaciones · UserService · validadores · exportación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99"/>
                </a:solidFill>
              </a:rPr>
              <a:t>Patrón AAA en los tests: Arrange → Act → Assert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89320" y="5532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99"/>
                </a:solidFill>
              </a:rPr>
              <a:t>Report Coverage se usa para saber qué líneas concretas quedan cubiertas.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10996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6428232"/>
            <a:ext cx="10149840" cy="0"/>
          </a:xfrm>
          <a:prstGeom prst="line">
            <a:avLst/>
          </a:prstGeom>
          <a:noFill/>
          <a:ln w="6350">
            <a:solidFill>
              <a:srgbClr val="D8E4E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Para defenderlo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53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7F6"/>
                </a:solidFill>
              </a:rPr>
              <a:t>Cinco ideas que resumen la práctica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0299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8760" y="19019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Capas separadas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A"/>
                </a:solidFill>
              </a:rPr>
              <a:t>UserService no conoce detalles de infraestructura.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743200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8529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27249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Flujo asíncrono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A"/>
                </a:solidFill>
              </a:rPr>
              <a:t>API, BD, caché, exportación y sincronización usan Task.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6758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5478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Entornos reales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35661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A"/>
                </a:solidFill>
              </a:rPr>
              <a:t>Development y Production cambian de proveedores.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9884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4370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Errores claros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389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A"/>
                </a:solidFill>
              </a:rPr>
              <a:t>Result&lt;T, DomainError&gt; evita try/catch como flujo normal.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2F78B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53218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51937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Pruebas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52120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3FA"/>
                </a:solidFill>
              </a:rPr>
              <a:t>Moq, Verify, Testcontainers y Report Coverage.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7F6"/>
                </a:solidFill>
              </a:rPr>
              <a:t>RepositorioRemoto.Back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355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7F6"/>
                </a:solidFill>
              </a:rPr>
              <a:t>Lucía Fuertes Cruz · Laura Santamaria Parra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2º DAW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RepositorioRemoto.Back</dc:title>
  <dc:subject>Práctica 6 - RepositorioRemoto.Back</dc:subject>
  <dc:creator>Lucía Fuertes Cruz y Laura Santamaria Parra</dc:creator>
  <cp:lastModifiedBy>Lucía Fuertes Cruz y Laura Santamaria Parra</cp:lastModifiedBy>
  <cp:revision>1</cp:revision>
  <dcterms:created xsi:type="dcterms:W3CDTF">2026-10-07T23:08:24Z</dcterms:created>
  <dcterms:modified xsi:type="dcterms:W3CDTF">2026-10-07T23:08:24Z</dcterms:modified>
</cp:coreProperties>
</file>